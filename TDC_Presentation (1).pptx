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8" r:id="rId21"/>
    <p:sldId id="279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5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7ffa5a522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e7ffa5a522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1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1191" y="670"/>
            <a:ext cx="9141619" cy="822746"/>
          </a:xfrm>
          <a:prstGeom prst="rect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732520" y="1097664"/>
            <a:ext cx="10055781" cy="113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Two-Channel Carry-Chain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Time-to-Digital </a:t>
            </a:r>
          </a:p>
          <a:p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Converter (TDC)</a:t>
            </a:r>
            <a:endParaRPr lang="en-US" sz="2000" dirty="0"/>
          </a:p>
          <a:p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INTERNSHIP  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823937" y="2057534"/>
            <a:ext cx="7313295" cy="286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endParaRPr sz="1799" dirty="0"/>
          </a:p>
          <a:p>
            <a:r>
              <a:rPr lang="en" sz="1799" dirty="0">
                <a:latin typeface="Calibri"/>
                <a:ea typeface="Calibri"/>
                <a:cs typeface="Calibri"/>
                <a:sym typeface="Calibri"/>
              </a:rPr>
              <a:t>Girdhari Jakhar</a:t>
            </a:r>
            <a:endParaRPr sz="1799" dirty="0"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1799" dirty="0">
                <a:latin typeface="Calibri"/>
                <a:ea typeface="Calibri"/>
                <a:cs typeface="Calibri"/>
                <a:sym typeface="Calibri"/>
              </a:rPr>
              <a:t>Entry no.: 2023EEB1201</a:t>
            </a:r>
            <a:endParaRPr sz="1799" dirty="0">
              <a:latin typeface="Calibri"/>
              <a:ea typeface="Calibri"/>
              <a:cs typeface="Calibri"/>
              <a:sym typeface="Calibri"/>
            </a:endParaRPr>
          </a:p>
          <a:p>
            <a:endParaRPr sz="1799" dirty="0"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1799" dirty="0">
                <a:latin typeface="Calibri"/>
                <a:ea typeface="Calibri"/>
                <a:cs typeface="Calibri"/>
                <a:sym typeface="Calibri"/>
              </a:rPr>
              <a:t>Supervisor : Dr Devarshi Mrinal Das, Assistant Professor,</a:t>
            </a:r>
          </a:p>
          <a:p>
            <a:r>
              <a:rPr lang="en" sz="1799" dirty="0">
                <a:latin typeface="Calibri"/>
                <a:ea typeface="Calibri"/>
                <a:cs typeface="Calibri"/>
                <a:sym typeface="Calibri"/>
              </a:rPr>
              <a:t>                      Dept. EE, IIT Ropar </a:t>
            </a:r>
            <a:endParaRPr sz="1799" dirty="0">
              <a:latin typeface="Calibri"/>
              <a:ea typeface="Calibri"/>
              <a:cs typeface="Calibri"/>
              <a:sym typeface="Calibri"/>
            </a:endParaRPr>
          </a:p>
          <a:p>
            <a:endParaRPr sz="1799" dirty="0"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1799" dirty="0">
                <a:latin typeface="Calibri"/>
                <a:ea typeface="Calibri"/>
                <a:cs typeface="Calibri"/>
                <a:sym typeface="Calibri"/>
              </a:rPr>
              <a:t>Mentor: Azhar Yaseen N.J. , Researcher, ISDL, IIT Ropar</a:t>
            </a:r>
          </a:p>
          <a:p>
            <a:r>
              <a:rPr lang="en" sz="1799" dirty="0">
                <a:latin typeface="Calibri"/>
                <a:ea typeface="Calibri"/>
                <a:cs typeface="Calibri"/>
                <a:sym typeface="Calibri"/>
              </a:rPr>
              <a:t>                Krishan Mehra ,</a:t>
            </a:r>
            <a:r>
              <a:rPr lang="en" sz="1799" dirty="0">
                <a:ea typeface="Calibri"/>
                <a:cs typeface="Calibri"/>
                <a:sym typeface="Calibri"/>
              </a:rPr>
              <a:t> Researcher, ISDL, IIT Ropar</a:t>
            </a:r>
          </a:p>
          <a:p>
            <a:endParaRPr sz="1799" dirty="0"/>
          </a:p>
        </p:txBody>
      </p:sp>
      <p:pic>
        <p:nvPicPr>
          <p:cNvPr id="2" name="Picture 1" descr="IIT Ropar - Wikipedia">
            <a:extLst>
              <a:ext uri="{FF2B5EF4-FFF2-40B4-BE49-F238E27FC236}">
                <a16:creationId xmlns:a16="http://schemas.microsoft.com/office/drawing/2014/main" id="{B372D572-E599-25A4-7E2B-5E8DA8C0173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04033" y="1192949"/>
            <a:ext cx="2953101" cy="3246455"/>
          </a:xfrm>
          <a:prstGeom prst="rect">
            <a:avLst/>
          </a:prstGeom>
          <a:effectLst>
            <a:outerShdw dist="50800" dir="5400000" sx="200000" sy="2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  <a:softEdge rad="25400"/>
          </a:effectLst>
          <a:scene3d>
            <a:camera prst="orthographicFront"/>
            <a:lightRig rig="threePt" dir="t"/>
          </a:scene3d>
          <a:sp3d>
            <a:bevelB w="152400" h="50800" prst="softRound"/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TDC answers one question: at what instant did an electrical event arrive?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Simplest method: count clock cycles. On a 200 MHz clock that is only 5 ns resolution.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ns of timing uncertainty = 75 cm of distance in LiDAR. Useless.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like LiDAR, PET scanners and particle detectors need picoseconds — about 300x finer.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just run a faster clock: a 200 GHz clock does not exist on an FPGA.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 instead: measure the leftover time between the event and the next clock edge.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leftover fraction is exactly what a fine "interpolator" recovers.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Coarse + Fine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241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  —  count clock edges  (5 ns steps)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74980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14400" y="1673352"/>
            <a:ext cx="0" cy="219456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377440" y="1673352"/>
            <a:ext cx="0" cy="219456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840480" y="1673352"/>
            <a:ext cx="0" cy="219456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303520" y="1673352"/>
            <a:ext cx="0" cy="219456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766560" y="1673352"/>
            <a:ext cx="0" cy="219456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229600" y="1673352"/>
            <a:ext cx="0" cy="219456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31520" y="1901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1901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901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54096" y="1728216"/>
            <a:ext cx="109728" cy="10972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417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2148840"/>
            <a:ext cx="14630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2377440" y="205740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3840480" y="205740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108960" y="2176272"/>
            <a:ext cx="0" cy="47548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246120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7706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 —  carry chain subdivides the gap  (~16 ps steps)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3108960"/>
            <a:ext cx="74980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22960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090749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358537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626326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894114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2161903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2429691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2697480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2965269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3233057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3500846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3768634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4036423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4304211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572000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4839789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5107577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5375366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5643154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5910943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6178731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6446520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6714309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6982097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7249886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7517674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7785463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8053251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8321040" y="3035808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4572000" y="2962656"/>
            <a:ext cx="0" cy="292608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54" name="Text 52"/>
          <p:cNvSpPr/>
          <p:nvPr/>
        </p:nvSpPr>
        <p:spPr>
          <a:xfrm>
            <a:off x="2103120" y="32735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lands here   -&gt;   fine = number of taps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22960" y="38221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ns resolution (75 cm)   -&gt;   16 ps resolution (2.4 mm)   =   312x finer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8640" y="411480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 tells you which 5 ns cycle; FINE tells you where inside it.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48640" y="433425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chain is 352 taps (5.63 ns) — a bit longer than a clock period, so nothing runs off the end.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Carry Chain as a Ruler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34440" y="1417320"/>
            <a:ext cx="6656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on the clock edge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34440" y="2057400"/>
            <a:ext cx="475488" cy="5029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9928" y="2057400"/>
            <a:ext cx="475488" cy="5029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85416" y="2057400"/>
            <a:ext cx="475488" cy="5029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2057400"/>
            <a:ext cx="475488" cy="5029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36392" y="2057400"/>
            <a:ext cx="475488" cy="5029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057400"/>
            <a:ext cx="475488" cy="5029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87368" y="2057400"/>
            <a:ext cx="475488" cy="5029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2856" y="2057400"/>
            <a:ext cx="475488" cy="5029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38344" y="2057400"/>
            <a:ext cx="475488" cy="5029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13832" y="2057400"/>
            <a:ext cx="475488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2057400"/>
            <a:ext cx="475488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4808" y="2057400"/>
            <a:ext cx="475488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0296" y="2057400"/>
            <a:ext cx="475488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15784" y="2057400"/>
            <a:ext cx="475488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308860"/>
            <a:ext cx="62179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37160" y="20116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2633472"/>
            <a:ext cx="6656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1  1  1  1  1  1  1  1  1   0  0  0  0  0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13832" y="1920240"/>
            <a:ext cx="0" cy="685800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4416552" y="1673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reached this far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3246120"/>
            <a:ext cx="6656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ones  =  9      -&gt;      9 x 16 ps  =  fine time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379476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chains give a few "bubbles" (a stray 0 or 1); a 5-tap majority filter cleans them.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01421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validator flags any illegal code, so a corrupted shot is thrown away, not published.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23367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352-bit code is turned into a number by a pipelined adder tree in ~5 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Reconstructing the Time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81381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t_event   =   coarse x 5.000 ns   -   fine x tau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8138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event launches the chain; the clock freezes it.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fine value counts backwards from the clock edge — note the MINUS sign.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larger fine value means the event arrived earlier (it had more time to climb).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this sign backwards is a classic, silent error.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 is the per-tap delay (~16 ps); coarse x 5 ns locates the clock edge itself.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chains have different tau, so the host applies a separate calibration per channel.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Channels Make an Interval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" y="11704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free-running counter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0" y="1463040"/>
            <a:ext cx="69494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97280" y="1380744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792224" y="1380744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487168" y="1380744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182112" y="1380744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877056" y="1380744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572000" y="1380744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266944" y="1380744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961888" y="1380744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656832" y="1380744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351776" y="1380744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046720" y="1380744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097280" y="2240280"/>
            <a:ext cx="69494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097280" y="3063240"/>
            <a:ext cx="69494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078992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(A)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(B)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62656" y="2185416"/>
            <a:ext cx="109728" cy="10972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22976" y="3008376"/>
            <a:ext cx="109728" cy="10972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1463040"/>
            <a:ext cx="0" cy="77724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5577840" y="1463040"/>
            <a:ext cx="0" cy="1600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3017520" y="2286000"/>
            <a:ext cx="0" cy="132588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577840" y="3108960"/>
            <a:ext cx="0" cy="50292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3017520" y="3611880"/>
            <a:ext cx="25603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560320" y="3666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  =  t_STOP  -  t_START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397764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counter: its arbitrary start value cancels when you subtract the two timestamps.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19709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phase difference between the two events survives — that is the interval.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4165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counter is never reset, so a measurement never disturbs the timeline.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Capturing at the Right Instant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clock edge after the event is the "golden edge" — the only instant that matters.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capture decision takes 4 clock edges (2-flop CDC sync + edge detect + FSM step).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then the carry chain has saturated — it fills in about 5.6 ns.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bring-up bug: this made fine read 255 on every single measurement.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snapshot_pipeline records the taps every edge and reaches back to the golden edge.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keeps a 4-deep history, so the golden-edge snapshot is always still available.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CAPTURE_LAG = 4 is uniquely correct: 2-3 read a full chain, 5 reads an empty one.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Signal Path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3258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3258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74520" y="1805940"/>
            <a:ext cx="29260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67128" y="1417320"/>
            <a:ext cx="13258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417320"/>
            <a:ext cx="13258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93008" y="1805940"/>
            <a:ext cx="29260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85616" y="1417320"/>
            <a:ext cx="13258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1417320"/>
            <a:ext cx="13258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11496" y="1805940"/>
            <a:ext cx="29260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04104" y="1417320"/>
            <a:ext cx="13258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04104" y="1417320"/>
            <a:ext cx="13258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9984" y="1805940"/>
            <a:ext cx="29260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22592" y="1417320"/>
            <a:ext cx="13258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1417320"/>
            <a:ext cx="13258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2677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channel  —  two identical copies (A = START, B = STOP)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5532" y="2542032"/>
            <a:ext cx="0" cy="1828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>
            <a:off x="1371600" y="2724912"/>
            <a:ext cx="631393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371600" y="2724912"/>
            <a:ext cx="0" cy="2743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931920" y="27432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 channels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16459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017520"/>
            <a:ext cx="16459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94560" y="3406140"/>
            <a:ext cx="29260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487168" y="3017520"/>
            <a:ext cx="11887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87168" y="3017520"/>
            <a:ext cx="11887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75888" y="3406140"/>
            <a:ext cx="29260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68496" y="3017520"/>
            <a:ext cx="17373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68496" y="3017520"/>
            <a:ext cx="17373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(read_tdc.py)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2971801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time is computed on-chip: tau_A != tau_B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3330525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bins are non-uniform, so the host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56261" y="373532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the per-channel calibration table.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41833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 = d_coarse x 5.000 ns  -  ( fine_b tau  -  fine_a tau 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Problems Solved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tried to delete the delay line  -&gt;  DONT_TOUCH.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event caused intermittent missed captures  -&gt;  two-flop CDC synchronisers.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Fine-encode path was 8x over the clock budget  -&gt;  pipelined adder / reduction trees.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= 255 on every shot  -&gt;  snapshot_pipeline (capture-lag fix).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too short (18% dead zone)  -&gt;  64 -&gt; 88 CARRY4 (352 taps).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 and fine share one snapshot module, so they always describe the same clock edge.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fix was proven bit-identical to its predecessor against thousands of random vectors.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554 automated checks — zero failures.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tiers: behavioural, synthesis, implementation (STA), timing simulation, hardware.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tier catches a class of bug the tier below structurally cannot.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Static Timing Analysis asks: does this path settle within one clock period?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simulation can never prove clock-domain-crossing correctness.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 carry4_real model reproduces the measured bubbles and zero-width bins.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and validator were checked bit-identical to a reference at 256 and 352 taps.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CARRY4 = 249  — both delay lines survived optimisation.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SRL16E = 2  — all 704 tap registers are real flip-flops, not LUTs.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8% of the device used — room for a 4- or 8-channel instrument.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closed:  WNS = +0.318 ns  at 200 MHz, zero failing endpoints.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slack WHS = +0.084 ns, so there are no hold violations either.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BRAM and zero DSP — the whole instrument is LUTs, flip-flops and carry logic.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Experiment: Same Signal, Both Channels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time reference yet, so we first test the instrument on itself.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physical edge drives BOTH the START and the STOP channel.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true interval is therefore a known constant (zero + fixed channel skew).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constant input, all scatter in the output is the instrument's own noise.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only test that cleanly separates precision from accuracy.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button press even works as a random-phase generator — a finger cannot control 5 ns timing.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mean of the readings is the fixed skew; the spread is the single-shot precision.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 We Ran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37160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13716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600200"/>
            <a:ext cx="17373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600200"/>
            <a:ext cx="1737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(A)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3063240"/>
            <a:ext cx="17373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063240"/>
            <a:ext cx="1737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(B)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V="1">
            <a:off x="2011680" y="1920240"/>
            <a:ext cx="1371600" cy="5486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11680" y="2743200"/>
            <a:ext cx="1371600" cy="6400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52160" y="2194560"/>
            <a:ext cx="17373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194560"/>
            <a:ext cx="1737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Two-channel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0" y="1920240"/>
            <a:ext cx="731520" cy="5486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5120640" y="2743200"/>
            <a:ext cx="731520" cy="6400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20840" y="3017520"/>
            <a:ext cx="0" cy="45720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120640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 293 ps  +/- 40 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293 ps is the fixed skew between the two channels — the instrument's zero point.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19709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input is constant, so the mean is the skew and the spread is the precision.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4165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only test that separates precision from accuracy without a reference.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1874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98448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Shots (two runs pooled)          622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interval (channel skew)     293 ps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Single-shot precision (diff)     40.2 ps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channel  (~ sigma / sqrt 2)  ~28.5 ps   (~4.3 mm LiDAR)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Run-to-run reproducibility       &lt; 1 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the 8-bit bring-up build; boundary wraps recovered in software.</a:t>
            </a:r>
            <a:endParaRPr lang="en-US" sz="13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establishes precision — accuracy still needs a known reference.</a:t>
            </a:r>
            <a:endParaRPr lang="en-US" sz="13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Per-channel ~28.5 ps is about 4.3 mm of LiDAR round-trip per single shot.</a:t>
            </a:r>
            <a:endParaRPr lang="en-US" sz="13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runs agreed to under 1 ps, so the result is reproducible(it can be achieved from taking a , large number of samples , temp calibration voltage calibration 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Spread Looks Like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331720" y="3402403"/>
            <a:ext cx="365760" cy="72317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3251969"/>
            <a:ext cx="365760" cy="22275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2940368"/>
            <a:ext cx="365760" cy="534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2476419"/>
            <a:ext cx="365760" cy="99830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77640" y="2022201"/>
            <a:ext cx="365760" cy="1452519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828800"/>
            <a:ext cx="365760" cy="16459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022201"/>
            <a:ext cx="365760" cy="1452519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2476419"/>
            <a:ext cx="365760" cy="99830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2940368"/>
            <a:ext cx="365760" cy="534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3251969"/>
            <a:ext cx="365760" cy="22275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3402403"/>
            <a:ext cx="365760" cy="72317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0240" y="3474720"/>
            <a:ext cx="53035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2926080" y="3474720"/>
            <a:ext cx="0" cy="7315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2560320" y="35661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3474720"/>
            <a:ext cx="0" cy="7315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3383280" y="35661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474720"/>
            <a:ext cx="0" cy="7315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4206240" y="35661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3474720"/>
            <a:ext cx="0" cy="7315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5029200" y="35661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474720"/>
            <a:ext cx="0" cy="7315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5852160" y="35661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49040" y="38221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 (ps)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10058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= 293 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0" y="13350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sigma = 40 ps  =  single-shot precision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1645920"/>
            <a:ext cx="16459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72000" y="1737360"/>
            <a:ext cx="0" cy="173736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548640" y="4041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622 shots of the SAME interval — a tight cluster.  The width IS the precision.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431596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6% of raw shots wrapped at a clock-edge boundary and were recovered in software.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453542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calibrated build and averaging over many shots will tighten this spread further.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Numbers Mean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(LSB, 16 ps): the finest step the ruler can mark  —  2.4 mm.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(~28.5 ps/channel): how repeatably it reads the same input  —  4.3 mm/shot.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whether the reading equals the true value  —  not yet measured.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293 ps mean is a fixed skew (the zero point), calibrated out — not an error.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(~28.5 ps) is roughly 1.8 LSBs — noise smears one reading across about two bins.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 many shots tightens the estimate (by the square root of the count).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/ Precision / Accuracy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1828800" cy="18288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1920240"/>
            <a:ext cx="1188720" cy="11887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76272" y="2221992"/>
            <a:ext cx="585216" cy="5852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2468880"/>
            <a:ext cx="91440" cy="91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2167128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52928" y="2212848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0048" y="2258568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2084832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1216" y="2139696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2112264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2286000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4930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7124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readings agree (28.5 ps)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V="1">
            <a:off x="2468880" y="2249424"/>
            <a:ext cx="292608" cy="26517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880360" y="1956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293 ps skew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1600200"/>
            <a:ext cx="1828800" cy="18288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1920240"/>
            <a:ext cx="1188720" cy="11887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33872" y="2221992"/>
            <a:ext cx="585216" cy="5852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2468880"/>
            <a:ext cx="91440" cy="91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2468880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0488" y="2514600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07608" y="2560320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2386584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08776" y="2441448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414016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99048" y="2587752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34930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TESTED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7124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known-delay reference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04164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cluster is tight (precise) but offset — that offset is the 293 ps skew, calibrated out.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426110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is the 16 ps grid; precision is about two grid steps (~1.8 LSB).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48056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needs a cable-loopback test against a known delay difference.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&amp; Remaining Work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Done: full two-channel datapath, timing closed, 554 checks, first hardware precision.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floorplan the carry chains (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pblock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for reproducible bin widths.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code-density calibration  -&gt;  per-bin LUT, DNL and INL.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cable-loopback test  -&gt;  verified accuracy against a known delay.</a:t>
            </a:r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Next : use something faster than UART (currently we can only take around 1900 sample per          	clk cycle.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IN" sz="1600" dirty="0"/>
              <a:t>Next: Implement Temperature-Aware Calibration using the Spartan-7 XADC with temperature-	dependent calibration LUT selection.</a:t>
            </a:r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IN" sz="1600" dirty="0"/>
              <a:t>Next: Integrate Time Walk Compensation.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 ps resolution on a clock that ticks every 5000 ps  —  a 312x improvement.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mm LiDAR distance resolution instead of 75 cm.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hardware: ~28.5 ps per-channel single-shot precision, reproducible.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is everything around the delay line, not the delay line itself.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real bugs — deletion, CDC loss, timing, capture-lag, SRL, short chain — each diagnosed and fixed.</a:t>
            </a:r>
            <a:endParaRPr lang="en-US" sz="15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uses ~8% of the device, leaving headroom for a multi-channel instrument.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28B34-FF67-B8F3-5AF2-BBA4163A62FB}"/>
              </a:ext>
            </a:extLst>
          </p:cNvPr>
          <p:cNvSpPr txBox="1"/>
          <p:nvPr/>
        </p:nvSpPr>
        <p:spPr>
          <a:xfrm>
            <a:off x="682283" y="1140589"/>
            <a:ext cx="744180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1E1E"/>
                </a:solidFill>
                <a:latin typeface="Calibri"/>
              </a:defRPr>
            </a:pPr>
            <a:r>
              <a:rPr lang="en-IN" dirty="0"/>
              <a:t>[1] C. Favi and E. </a:t>
            </a:r>
            <a:r>
              <a:rPr lang="en-IN" dirty="0" err="1"/>
              <a:t>Charbon</a:t>
            </a:r>
            <a:r>
              <a:rPr lang="en-IN" dirty="0"/>
              <a:t>, "A 17ps Time-to-Digital Converter Implemented in 65nm FPGA Technology," </a:t>
            </a:r>
            <a:r>
              <a:rPr lang="en-IN" i="1" dirty="0"/>
              <a:t>ACM/SIGDA Int. Symp. on FPGAs </a:t>
            </a:r>
            <a:r>
              <a:rPr lang="en-IN" dirty="0"/>
              <a:t>(FPGA'09), 2009.</a:t>
            </a:r>
          </a:p>
          <a:p>
            <a:pPr>
              <a:spcAft>
                <a:spcPts val="1200"/>
              </a:spcAft>
              <a:defRPr sz="1400">
                <a:solidFill>
                  <a:srgbClr val="1E1E1E"/>
                </a:solidFill>
                <a:latin typeface="Calibri"/>
              </a:defRPr>
            </a:pPr>
            <a:r>
              <a:rPr lang="en-IN" dirty="0"/>
              <a:t>[2] </a:t>
            </a:r>
            <a:r>
              <a:rPr lang="en-IN" sz="1400" dirty="0"/>
              <a:t>Rui Machado , Jorge Cabral, and Filipe Serra Alves, </a:t>
            </a:r>
            <a:r>
              <a:rPr lang="en-IN" dirty="0"/>
              <a:t>“</a:t>
            </a:r>
            <a:r>
              <a:rPr lang="en-IN" sz="1400" dirty="0"/>
              <a:t>Recent Developments and Challenges in FPGA-Based Time-to-Digital Converters</a:t>
            </a:r>
            <a:r>
              <a:rPr lang="en-IN" sz="1400" i="1" dirty="0"/>
              <a:t>” IEEE TRANSACTIONS ON INSTRUMENTATION AND MEASUREMENT</a:t>
            </a:r>
            <a:r>
              <a:rPr lang="en-IN" sz="1400" dirty="0"/>
              <a:t>, VOL. 68, NO. 11, NOVEMBER 2019</a:t>
            </a:r>
            <a:endParaRPr lang="en-IN" dirty="0"/>
          </a:p>
          <a:p>
            <a:pPr>
              <a:spcAft>
                <a:spcPts val="1200"/>
              </a:spcAft>
              <a:defRPr sz="1400">
                <a:solidFill>
                  <a:srgbClr val="1E1E1E"/>
                </a:solidFill>
                <a:latin typeface="Calibri"/>
              </a:defRPr>
            </a:pPr>
            <a:r>
              <a:rPr lang="en-IN" dirty="0"/>
              <a:t>[3] Y. Wang et al., "A Multi-Chain Merged Tapped Delay Line for High Precision Time-to-Digital Converters in FPGAs</a:t>
            </a:r>
            <a:r>
              <a:rPr lang="en-IN" i="1" dirty="0"/>
              <a:t>," IEEE Trans. Circuits Syst. II</a:t>
            </a:r>
            <a:r>
              <a:rPr lang="en-IN" dirty="0"/>
              <a:t>, vol. 65, no. 1, Jan. 2018.</a:t>
            </a:r>
          </a:p>
          <a:p>
            <a:pPr>
              <a:spcAft>
                <a:spcPts val="1200"/>
              </a:spcAft>
              <a:defRPr sz="1400">
                <a:solidFill>
                  <a:srgbClr val="1E1E1E"/>
                </a:solidFill>
                <a:latin typeface="Calibri"/>
              </a:defRPr>
            </a:pPr>
            <a:r>
              <a:rPr lang="en-IN" dirty="0"/>
              <a:t>[4] </a:t>
            </a:r>
            <a:r>
              <a:rPr lang="en-IN" dirty="0" err="1"/>
              <a:t>Ruqing</a:t>
            </a:r>
            <a:r>
              <a:rPr lang="en-IN" dirty="0"/>
              <a:t> Liu, Feng Li, Jingguo Zhu, Yan Jiang, </a:t>
            </a:r>
            <a:r>
              <a:rPr lang="en-IN" dirty="0" err="1"/>
              <a:t>Chenghao</a:t>
            </a:r>
            <a:r>
              <a:rPr lang="en-IN" dirty="0"/>
              <a:t> Jiang, and Tao Hu, “</a:t>
            </a:r>
            <a:r>
              <a:rPr lang="en-US" dirty="0"/>
              <a:t>A High-Resolution Calibration Method for Time-to-Digital Converter of Lidar” </a:t>
            </a:r>
            <a:r>
              <a:rPr lang="en-US" i="1" dirty="0"/>
              <a:t>Chinese Journal of Electronics</a:t>
            </a:r>
            <a:r>
              <a:rPr lang="en-US" dirty="0"/>
              <a:t> vol. 34, no. 1, pp. 222–228, January 2025</a:t>
            </a:r>
          </a:p>
          <a:p>
            <a:pPr>
              <a:spcAft>
                <a:spcPts val="1200"/>
              </a:spcAft>
              <a:defRPr sz="1400">
                <a:solidFill>
                  <a:srgbClr val="1E1E1E"/>
                </a:solidFill>
                <a:latin typeface="Calibri"/>
              </a:defRPr>
            </a:pPr>
            <a:r>
              <a:rPr lang="en-US" dirty="0"/>
              <a:t>[5] </a:t>
            </a:r>
            <a:r>
              <a:rPr lang="en-IN" sz="1400" dirty="0"/>
              <a:t>DONG Lei, </a:t>
            </a:r>
            <a:r>
              <a:rPr lang="en-IN" sz="1400" dirty="0" err="1"/>
              <a:t>YANGJun</a:t>
            </a:r>
            <a:r>
              <a:rPr lang="en-IN" sz="1400" dirty="0"/>
              <a:t>-Feng and SONG Ke-</a:t>
            </a:r>
            <a:r>
              <a:rPr lang="en-IN" sz="1400" dirty="0" err="1"/>
              <a:t>Zhui</a:t>
            </a:r>
            <a:r>
              <a:rPr lang="en-IN" sz="1400" dirty="0"/>
              <a:t>, “Carry-chain propagation delay impacts on resolution of FPGA-based TDC” </a:t>
            </a:r>
            <a:r>
              <a:rPr lang="en-IN" sz="1400" i="1" dirty="0"/>
              <a:t>NUCLEAR SCIENCE AND TECHNIQUES </a:t>
            </a:r>
            <a:r>
              <a:rPr lang="en-IN" sz="1400" dirty="0"/>
              <a:t>25,030401(2014)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D403C-6FD0-3920-6C75-10BBAF79A092}"/>
              </a:ext>
            </a:extLst>
          </p:cNvPr>
          <p:cNvSpPr txBox="1"/>
          <p:nvPr/>
        </p:nvSpPr>
        <p:spPr>
          <a:xfrm>
            <a:off x="815926" y="365760"/>
            <a:ext cx="694944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Reference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305240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Template 1 Ppt PowerPoint Presentation File Layout">
            <a:extLst>
              <a:ext uri="{FF2B5EF4-FFF2-40B4-BE49-F238E27FC236}">
                <a16:creationId xmlns:a16="http://schemas.microsoft.com/office/drawing/2014/main" id="{01835312-0FC8-B9A3-16A5-449F6706C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46" y="460863"/>
            <a:ext cx="6049108" cy="422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647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2051</Words>
  <Application>Microsoft Office PowerPoint</Application>
  <PresentationFormat>On-screen Show (16:9)</PresentationFormat>
  <Paragraphs>225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Girdhari Jakhar</cp:lastModifiedBy>
  <cp:revision>10</cp:revision>
  <dcterms:created xsi:type="dcterms:W3CDTF">2026-07-15T18:27:22Z</dcterms:created>
  <dcterms:modified xsi:type="dcterms:W3CDTF">2026-07-16T06:28:23Z</dcterms:modified>
</cp:coreProperties>
</file>